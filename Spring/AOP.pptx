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6BA55-7FB4-E077-39A2-6567282E6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FEEA6-9B10-6107-1558-2C5E5E42D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E3231-9427-CB09-3953-34415A6B7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34E77-C77C-4243-AB11-220BC341F7D0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177FA-7061-A9D7-AA67-6FEDC075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8912C-10AB-7532-A8CF-BE49DDC6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7FDB9-2FC7-4F8C-99F6-18F79A113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17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C0F3-5653-ECB5-A878-14396967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40DBC-8C83-FA77-03EA-37776BA0A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DA0DA-2098-80D5-AA87-9F1458397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34E77-C77C-4243-AB11-220BC341F7D0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77F9B-1BAA-BFC9-0DE4-092AE0911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A0B01-6A74-764E-0BDC-FEF2DC6D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7FDB9-2FC7-4F8C-99F6-18F79A113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377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666D0-A9E5-810A-D73A-FC93E97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0B2E8-ACE8-FDFE-1D6F-3A2357F8A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BFB6A-F7D9-68C5-7E24-0EAE54F3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34E77-C77C-4243-AB11-220BC341F7D0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E24AD-F9AF-DAFC-3717-60FA1830F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21AB8-B5F7-5EAA-458A-F1AD4D186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7FDB9-2FC7-4F8C-99F6-18F79A113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91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A0DE-4953-2CA3-75FB-20F321C8A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9AD00-A2F6-3459-0950-4C4292B4F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57818-7C2A-935E-EA6E-EF0AA05BE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22CF2-2775-1FCA-97C7-9D9E7C8EA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34E77-C77C-4243-AB11-220BC341F7D0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ECC66-F3E3-A6E4-C0D4-A4C625920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1D4C2-0580-9CD5-3CA2-636C5086A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7FDB9-2FC7-4F8C-99F6-18F79A113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371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44D8-52DA-7EB6-3AF1-002A63BC1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74F46-4DBE-E990-4B65-D2F3AB2B5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03B2A-38E5-AC95-7A09-30CB6D592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BF64B-C565-A68E-B14C-0220BB04EB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16DC0F-1C80-09A3-AB91-FB24DD7D67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8D2BEB-8169-9950-324B-C161C98C7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34E77-C77C-4243-AB11-220BC341F7D0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1D21A-E309-76C7-9F55-72DF4947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50DF9A-4DE7-BC85-8A5C-D161375FC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7FDB9-2FC7-4F8C-99F6-18F79A113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86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C5DE7-DD30-E30D-E2A1-487B53F23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9B4638-6680-EA41-1E2F-DD4BD53B4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34E77-C77C-4243-AB11-220BC341F7D0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F9E809-945C-9EAE-E4B6-0D93E46C8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4E979-B429-5D06-A80A-67D5650A3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7FDB9-2FC7-4F8C-99F6-18F79A113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373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8AAF9E-7478-4E3A-B212-58414D6BA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34E77-C77C-4243-AB11-220BC341F7D0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0E1DCE-BDDD-3772-0158-C3E5028AB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E7A10-74F4-8D77-64EC-08F25AB4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7FDB9-2FC7-4F8C-99F6-18F79A113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378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572C-306C-8C2A-C045-F6BAE2AD7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AE3-51CA-CDC3-A424-95C248B24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86453-5BD1-A057-999B-885DCBF76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A2B5E-6120-3390-602A-4E634B29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34E77-C77C-4243-AB11-220BC341F7D0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40E87-D0D3-989A-104D-88FB2D003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DAEDF-B70B-C433-C308-7E0FB19FC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7FDB9-2FC7-4F8C-99F6-18F79A113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4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16265-374A-A5D7-03D0-CF102105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68FA2F-6682-4A6F-ED3C-756B1E58C0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E27B9-9C2F-842D-557C-A7E160154A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8B9B2-0ECD-E750-D33B-F73388277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34E77-C77C-4243-AB11-220BC341F7D0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DE972-1F59-BFFF-436C-9C173AF58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DBD032-7371-D850-BD1A-B37567FC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7FDB9-2FC7-4F8C-99F6-18F79A113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9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B3601-4B51-B523-7677-08F32062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2D3391-7400-5682-248A-DB775CC93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226F1-2112-EF3B-DC0B-C8D8AC04F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34E77-C77C-4243-AB11-220BC341F7D0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5A582-DB7F-DCA6-5D6B-1830EFD40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8A396-4101-9B2B-FD66-154944AF9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7FDB9-2FC7-4F8C-99F6-18F79A113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80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6B79F8-D501-EF93-671F-750A40206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5E798-E0F1-F36F-6BCD-45EFC605E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39096-A66A-D758-E223-DBA101137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34E77-C77C-4243-AB11-220BC341F7D0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3014B-6F6E-6021-5613-F0D124A0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BE55E-F301-4BCF-D16B-359A368F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7FDB9-2FC7-4F8C-99F6-18F79A113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17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9EC138-F0D8-3463-552C-909DCF326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41EFB-DC42-2C85-7B16-4A4939B0F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78930-C5CC-21A9-7F59-740F8FF43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34E77-C77C-4243-AB11-220BC341F7D0}" type="datetimeFigureOut">
              <a:rPr lang="en-IN" smtClean="0"/>
              <a:t>27-02-2024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252A8-FE4E-0BE8-FCB8-7F389739F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B5159-329C-255F-69C0-A025DEABC1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7FDB9-2FC7-4F8C-99F6-18F79A113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30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91989-7418-27CA-86C4-617256950D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BD9F8-2722-3929-7546-D6A611F08E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13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E9A29-DFE6-34D6-974A-CF793659D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1" y="345232"/>
            <a:ext cx="11252719" cy="6363477"/>
          </a:xfrm>
        </p:spPr>
        <p:txBody>
          <a:bodyPr/>
          <a:lstStyle/>
          <a:p>
            <a:r>
              <a:rPr lang="en-US" b="0" dirty="0">
                <a:effectLst/>
              </a:rPr>
              <a:t>In Aspect Oriented Programming (AOP), a </a:t>
            </a:r>
            <a:r>
              <a:rPr lang="en-US" b="0" dirty="0" err="1">
                <a:effectLst/>
              </a:rPr>
              <a:t>joinpoint</a:t>
            </a:r>
            <a:r>
              <a:rPr lang="en-US" b="0" dirty="0">
                <a:effectLst/>
              </a:rPr>
              <a:t> is a point in the execution of a program where an aspect can be plugged in. It can be a step in program execution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Executing a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Handling an exception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 method being called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 field being modified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2000"/>
                </a:solidFill>
                <a:effectLst/>
                <a:latin typeface="Google Sans"/>
              </a:rPr>
              <a:t>An exception being thrown </a:t>
            </a:r>
            <a:endParaRPr lang="en-US" b="0" i="0" dirty="0">
              <a:solidFill>
                <a:srgbClr val="1A73E8"/>
              </a:solidFill>
              <a:effectLst/>
              <a:latin typeface="Google Sans"/>
            </a:endParaRPr>
          </a:p>
          <a:p>
            <a:br>
              <a:rPr lang="en-US" b="0" i="0" dirty="0">
                <a:solidFill>
                  <a:srgbClr val="112000"/>
                </a:solidFill>
                <a:effectLst/>
                <a:latin typeface="Google Sans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206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BAA6F-4462-24B6-ADFF-DBC3C2CD7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DF1F6-E893-C5A9-34A5-9BEE74CC8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1" y="345232"/>
            <a:ext cx="11252719" cy="6363477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2000"/>
                </a:solidFill>
                <a:effectLst/>
                <a:latin typeface="Google Sans"/>
              </a:rPr>
              <a:t>Advice is a method that gets executed when a certain join point with matching pointcut is reached in the application.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D1600"/>
                </a:solidFill>
                <a:effectLst/>
                <a:latin typeface="Google Sans"/>
              </a:rPr>
              <a:t>Before advice: Runs before the execution of join point methods. The @Before annotation marks an advice type as before advice.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D1600"/>
                </a:solidFill>
                <a:effectLst/>
                <a:latin typeface="Google Sans"/>
              </a:rPr>
              <a:t>After (finally) advice: Runs after the join point method finishes executing, whether normally or by throwing an exception.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D1600"/>
                </a:solidFill>
                <a:effectLst/>
                <a:latin typeface="Google Sans"/>
              </a:rPr>
              <a:t>After returning advice: Runs after the method returns a result. The @AfterReturning annotation marks an advice type as after returning advice.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D1600"/>
                </a:solidFill>
                <a:effectLst/>
                <a:latin typeface="Google Sans"/>
              </a:rPr>
              <a:t>After throwing advice: Runs after the method throws an exception.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D1600"/>
                </a:solidFill>
                <a:effectLst/>
                <a:latin typeface="Google Sans"/>
              </a:rPr>
              <a:t>Around advice: Runs around the method execution, combining all three advices above</a:t>
            </a:r>
          </a:p>
          <a:p>
            <a:pPr marL="0" indent="0">
              <a:buNone/>
            </a:pPr>
            <a:br>
              <a:rPr lang="en-US" b="0" i="0" dirty="0">
                <a:solidFill>
                  <a:srgbClr val="112000"/>
                </a:solidFill>
                <a:effectLst/>
                <a:latin typeface="Google Sans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1677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F4280-CC5A-1EFD-AC95-B1359B6A2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C154A-BEFE-814B-9AAF-9B4F36BE2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1" y="345232"/>
            <a:ext cx="11252719" cy="6363477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B4045"/>
                </a:solidFill>
                <a:effectLst/>
                <a:latin typeface="-apple-system"/>
              </a:rPr>
              <a:t>Weaving is the process of applying the </a:t>
            </a:r>
            <a:r>
              <a:rPr lang="en-US" b="1" i="0" dirty="0">
                <a:solidFill>
                  <a:srgbClr val="3B4045"/>
                </a:solidFill>
                <a:effectLst/>
                <a:latin typeface="-apple-system"/>
              </a:rPr>
              <a:t>Advices</a:t>
            </a:r>
            <a:r>
              <a:rPr lang="en-US" b="0" i="0" dirty="0">
                <a:solidFill>
                  <a:srgbClr val="3B4045"/>
                </a:solidFill>
                <a:effectLst/>
                <a:latin typeface="-apple-system"/>
              </a:rPr>
              <a:t> to the </a:t>
            </a:r>
            <a:r>
              <a:rPr lang="en-US" b="1" i="0" dirty="0">
                <a:solidFill>
                  <a:srgbClr val="3B4045"/>
                </a:solidFill>
                <a:effectLst/>
                <a:latin typeface="-apple-system"/>
              </a:rPr>
              <a:t>Target</a:t>
            </a:r>
            <a:r>
              <a:rPr lang="en-US" b="0" i="0" dirty="0">
                <a:solidFill>
                  <a:srgbClr val="3B4045"/>
                </a:solidFill>
                <a:effectLst/>
                <a:latin typeface="-apple-system"/>
              </a:rPr>
              <a:t> objects at given </a:t>
            </a:r>
            <a:r>
              <a:rPr lang="en-US" b="1" i="0" dirty="0">
                <a:solidFill>
                  <a:srgbClr val="3B4045"/>
                </a:solidFill>
                <a:effectLst/>
                <a:latin typeface="-apple-system"/>
              </a:rPr>
              <a:t>pointcuts</a:t>
            </a:r>
            <a:r>
              <a:rPr lang="en-US" b="0" i="0" dirty="0">
                <a:solidFill>
                  <a:srgbClr val="3B4045"/>
                </a:solidFill>
                <a:effectLst/>
                <a:latin typeface="-apple-system"/>
              </a:rPr>
              <a:t> to get the Proxy Objects.</a:t>
            </a:r>
          </a:p>
          <a:p>
            <a:r>
              <a:rPr lang="en-US" b="0" i="0" dirty="0">
                <a:solidFill>
                  <a:srgbClr val="00201A"/>
                </a:solidFill>
                <a:effectLst/>
                <a:latin typeface="Google Sans"/>
              </a:rPr>
              <a:t>Weaving can be done using the AspectJ compiler at compile time.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JDK Dynamic Proxies are a good choice for applications that need to create proxies of interfaces at runtime. CGLIB Proxies are a good choice for applications that need to create proxies of classes at runtime.</a:t>
            </a:r>
            <a:endParaRPr lang="en-US" dirty="0">
              <a:solidFill>
                <a:srgbClr val="3B4045"/>
              </a:solidFill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Spring AOP uses JDK dynamic proxies by default if the target object implements at least one interface. </a:t>
            </a:r>
            <a:r>
              <a:rPr lang="en-US" b="0" i="0">
                <a:solidFill>
                  <a:srgbClr val="001D35"/>
                </a:solidFill>
                <a:effectLst/>
                <a:latin typeface="Google Sans"/>
              </a:rPr>
              <a:t>However, if the target object does not implement any interfaces, Spring AOP will use CGLIB to create a proxy.</a:t>
            </a:r>
            <a:br>
              <a:rPr lang="en-US" b="0" i="0" dirty="0">
                <a:solidFill>
                  <a:srgbClr val="112000"/>
                </a:solidFill>
                <a:effectLst/>
                <a:latin typeface="Google Sans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7968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287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-apple-system</vt:lpstr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 Sunar</dc:creator>
  <cp:lastModifiedBy>Arun Sunar</cp:lastModifiedBy>
  <cp:revision>1</cp:revision>
  <dcterms:created xsi:type="dcterms:W3CDTF">2024-02-27T12:21:47Z</dcterms:created>
  <dcterms:modified xsi:type="dcterms:W3CDTF">2024-02-27T12:39:47Z</dcterms:modified>
</cp:coreProperties>
</file>