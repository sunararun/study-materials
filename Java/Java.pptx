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5554F5-EF2A-4CF7-84F8-DA24253340A7}" v="4" dt="2023-12-02T09:59:15.7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Sunar" userId="3fa9774ca67c7ab5" providerId="LiveId" clId="{6D5554F5-EF2A-4CF7-84F8-DA24253340A7}"/>
    <pc:docChg chg="undo redo custSel addSld modSld">
      <pc:chgData name="Arun Sunar" userId="3fa9774ca67c7ab5" providerId="LiveId" clId="{6D5554F5-EF2A-4CF7-84F8-DA24253340A7}" dt="2023-12-02T09:59:15.701" v="24" actId="20577"/>
      <pc:docMkLst>
        <pc:docMk/>
      </pc:docMkLst>
      <pc:sldChg chg="modSp mod">
        <pc:chgData name="Arun Sunar" userId="3fa9774ca67c7ab5" providerId="LiveId" clId="{6D5554F5-EF2A-4CF7-84F8-DA24253340A7}" dt="2023-12-02T03:22:17.095" v="2" actId="20577"/>
        <pc:sldMkLst>
          <pc:docMk/>
          <pc:sldMk cId="1354495024" sldId="256"/>
        </pc:sldMkLst>
        <pc:spChg chg="mod">
          <ac:chgData name="Arun Sunar" userId="3fa9774ca67c7ab5" providerId="LiveId" clId="{6D5554F5-EF2A-4CF7-84F8-DA24253340A7}" dt="2023-12-02T03:22:17.095" v="2" actId="20577"/>
          <ac:spMkLst>
            <pc:docMk/>
            <pc:sldMk cId="1354495024" sldId="256"/>
            <ac:spMk id="3" creationId="{9F4F7170-DA49-EBF1-D8A3-F5833DC382B4}"/>
          </ac:spMkLst>
        </pc:spChg>
      </pc:sldChg>
      <pc:sldChg chg="modSp add mod">
        <pc:chgData name="Arun Sunar" userId="3fa9774ca67c7ab5" providerId="LiveId" clId="{6D5554F5-EF2A-4CF7-84F8-DA24253340A7}" dt="2023-12-02T09:52:32.391" v="15" actId="27636"/>
        <pc:sldMkLst>
          <pc:docMk/>
          <pc:sldMk cId="1278186017" sldId="257"/>
        </pc:sldMkLst>
        <pc:spChg chg="mod">
          <ac:chgData name="Arun Sunar" userId="3fa9774ca67c7ab5" providerId="LiveId" clId="{6D5554F5-EF2A-4CF7-84F8-DA24253340A7}" dt="2023-12-02T09:52:32.391" v="15" actId="27636"/>
          <ac:spMkLst>
            <pc:docMk/>
            <pc:sldMk cId="1278186017" sldId="257"/>
            <ac:spMk id="3" creationId="{9F4F7170-DA49-EBF1-D8A3-F5833DC382B4}"/>
          </ac:spMkLst>
        </pc:spChg>
      </pc:sldChg>
      <pc:sldChg chg="modSp add mod">
        <pc:chgData name="Arun Sunar" userId="3fa9774ca67c7ab5" providerId="LiveId" clId="{6D5554F5-EF2A-4CF7-84F8-DA24253340A7}" dt="2023-12-02T09:59:15.701" v="24" actId="20577"/>
        <pc:sldMkLst>
          <pc:docMk/>
          <pc:sldMk cId="3037331004" sldId="258"/>
        </pc:sldMkLst>
        <pc:spChg chg="mod">
          <ac:chgData name="Arun Sunar" userId="3fa9774ca67c7ab5" providerId="LiveId" clId="{6D5554F5-EF2A-4CF7-84F8-DA24253340A7}" dt="2023-12-02T09:59:15.701" v="24" actId="20577"/>
          <ac:spMkLst>
            <pc:docMk/>
            <pc:sldMk cId="3037331004" sldId="258"/>
            <ac:spMk id="3" creationId="{9F4F7170-DA49-EBF1-D8A3-F5833DC382B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5483C-C15F-78B4-79CD-C093E666C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B184C-936D-65D3-EFA3-B436F710B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B75C9-F389-F246-7B2E-C6B7DA6B8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755E-FF37-443F-8523-AAC928DB2997}" type="datetimeFigureOut">
              <a:rPr lang="en-IN" smtClean="0"/>
              <a:t>02-12-2023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68993-8B4E-AE5B-9C57-C17738FF9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37784-639E-7DA4-5C16-5758ECF3A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2B66F-6579-4349-ACEC-A76B90F5E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795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27ADE-178A-6C99-48E6-0032F0E52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2CE34-355D-76BC-F2DF-62701FAEA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8FDD0-8251-552A-3F35-94A52EFC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755E-FF37-443F-8523-AAC928DB2997}" type="datetimeFigureOut">
              <a:rPr lang="en-IN" smtClean="0"/>
              <a:t>02-12-2023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68C0D-0A9A-CCFF-68F9-5DF06BA65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BDD2F-11DD-D636-3FC7-8B9CDECF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2B66F-6579-4349-ACEC-A76B90F5E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932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6BA1C-E3EB-E465-B393-222E8128A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71193-8F6F-406F-BC0C-E3FF3FB9C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F6299-58B9-EE34-181E-91218E3F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755E-FF37-443F-8523-AAC928DB2997}" type="datetimeFigureOut">
              <a:rPr lang="en-IN" smtClean="0"/>
              <a:t>02-12-2023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B7249-7C32-84DF-7D8B-5838E971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41677-BD53-E5B8-DDFD-0E480655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2B66F-6579-4349-ACEC-A76B90F5E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62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22BAF-68F9-E66C-6BCB-0B3BDC184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3580D-7011-A8F1-61F2-0B0DD2A7E6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13239-BF98-1B87-CCD6-BA314D00F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694C2-73EF-0C4F-8C28-A69206195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755E-FF37-443F-8523-AAC928DB2997}" type="datetimeFigureOut">
              <a:rPr lang="en-IN" smtClean="0"/>
              <a:t>02-12-2023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90DF-9F64-88E2-344D-0FFF87432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7A476-C367-ADEF-772C-C141CA259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2B66F-6579-4349-ACEC-A76B90F5E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09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E2384-6AC9-EC9A-BDB6-32D94BCE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F21F3-412D-FD3F-DA29-77A5C6196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C356D-EFE4-3170-533D-7BDAFC66E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A8CAA4-911F-2ECA-9D0F-96F5E8C77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40B5E3-DB9F-E767-006D-A80578E53E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68130D-0B76-3F1C-F222-F4B50E84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755E-FF37-443F-8523-AAC928DB2997}" type="datetimeFigureOut">
              <a:rPr lang="en-IN" smtClean="0"/>
              <a:t>02-12-2023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580B7B-E965-63D1-D6B3-F5C9A253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558687-93D5-B510-825F-A3C0DEB1C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2B66F-6579-4349-ACEC-A76B90F5E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798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85E8-869A-ACEF-0B3E-7347FD53E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B0DC1E-32CD-25CD-9606-DC39E0A56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755E-FF37-443F-8523-AAC928DB2997}" type="datetimeFigureOut">
              <a:rPr lang="en-IN" smtClean="0"/>
              <a:t>02-12-2023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8A73A2-C7F4-1F0D-BD35-24B7E34C1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A746D-9DC9-CD25-6B16-EC23C8F29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2B66F-6579-4349-ACEC-A76B90F5E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59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455A1E-7135-93E7-7B5E-51A1D3FC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755E-FF37-443F-8523-AAC928DB2997}" type="datetimeFigureOut">
              <a:rPr lang="en-IN" smtClean="0"/>
              <a:t>02-12-2023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4D6843-669C-F2BB-F04B-54837458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FD39C-5D24-4B88-A024-61C9C9072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2B66F-6579-4349-ACEC-A76B90F5E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755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B4181-2200-60B6-11A9-0619ABF15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A7ADA-76B5-E472-E6AE-7CF02B79F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F6EE6-F0EB-2707-7515-436EC2901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B3754F-3FA9-B1CE-B3D3-250D88F0A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755E-FF37-443F-8523-AAC928DB2997}" type="datetimeFigureOut">
              <a:rPr lang="en-IN" smtClean="0"/>
              <a:t>02-12-2023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24CD2-0D05-B879-F095-C3E9D94BF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E993E-3410-71FC-674D-5796A415F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2B66F-6579-4349-ACEC-A76B90F5E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583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152C6-9389-DACF-544F-1561D27C2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79191-7092-6266-1C34-3622D59E0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B624D6-F837-A961-CCFE-4EB349006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596A9-AB11-8307-77A5-C45144F5B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755E-FF37-443F-8523-AAC928DB2997}" type="datetimeFigureOut">
              <a:rPr lang="en-IN" smtClean="0"/>
              <a:t>02-12-2023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6997D-0D12-6757-BDFD-B88F2F8FC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A5437-FDED-F8F0-2C93-E3F6FB24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2B66F-6579-4349-ACEC-A76B90F5E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513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E4BCD-F568-A3F1-8A5F-5AEFA6F6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279865-2BBF-D610-2EA4-296756373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E22A3-6587-A26E-2BD3-812B2917C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755E-FF37-443F-8523-AAC928DB2997}" type="datetimeFigureOut">
              <a:rPr lang="en-IN" smtClean="0"/>
              <a:t>02-12-2023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0B3AC-1DDF-9258-5F15-6A62CDF6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3ADCD-DA42-18B7-965C-FEB4A0BBB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2B66F-6579-4349-ACEC-A76B90F5E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66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DF092-189B-E68E-5FE6-052EF1613E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BCC69-5CF8-3DA6-4C63-F30682DD8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A67A0-9E41-3C5E-E72F-3C02900A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755E-FF37-443F-8523-AAC928DB2997}" type="datetimeFigureOut">
              <a:rPr lang="en-IN" smtClean="0"/>
              <a:t>02-12-2023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3F228-DB24-B9C4-28C9-17F9CBEBA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6EBAB-D727-5745-24AD-AD959D2B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2B66F-6579-4349-ACEC-A76B90F5E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12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2A12CD-B84A-F624-530B-1059E13CD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6D3F0-54FF-B686-00F1-239DBFBA5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E3434-0633-D957-A008-78605542F8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5755E-FF37-443F-8523-AAC928DB2997}" type="datetimeFigureOut">
              <a:rPr lang="en-IN" smtClean="0"/>
              <a:t>02-12-2023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5212-FE8F-02CA-221E-6D1CF33E3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CB8AC-ABB9-DA29-F4A9-87965066A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2B66F-6579-4349-ACEC-A76B90F5E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99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madesoeasy.com/2017/03/top-50-garbage-collection-interview.html" TargetMode="External"/><Relationship Id="rId2" Type="http://schemas.openxmlformats.org/officeDocument/2006/relationships/hyperlink" Target="https://www.oracle.com/webfolder/technetwork/tutorials/obe/java/gc01/index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ematext.com/blog/java-memory-leaks/" TargetMode="External"/><Relationship Id="rId2" Type="http://schemas.openxmlformats.org/officeDocument/2006/relationships/hyperlink" Target="https://rollbar.com/blog/how-to-detect-memory-leaks-in-java-causes-types-tools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4F7170-DA49-EBF1-D8A3-F5833DC38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249" y="261257"/>
            <a:ext cx="11551298" cy="6379449"/>
          </a:xfrm>
        </p:spPr>
        <p:txBody>
          <a:bodyPr/>
          <a:lstStyle/>
          <a:p>
            <a:pPr algn="l"/>
            <a:r>
              <a:rPr lang="en-US" dirty="0"/>
              <a:t> 'JVM is the abbreviation for Java virtual machine. JVM is the virtual machine that executes Java code and translates the byte code into machine-specific code to allow computers to run and interpret Java programs.’</a:t>
            </a:r>
          </a:p>
          <a:p>
            <a:pPr algn="l"/>
            <a:r>
              <a:rPr lang="en-US" b="0" i="1" dirty="0">
                <a:solidFill>
                  <a:srgbClr val="2D2D2D"/>
                </a:solidFill>
                <a:effectLst/>
                <a:latin typeface="Noto Sans" panose="020B0502040504020204" pitchFamily="34" charset="0"/>
              </a:rPr>
              <a:t>Pass by reference involves passing the address itself instead of passing the value, whereas pass by value is passing a copy of the value.’</a:t>
            </a:r>
          </a:p>
          <a:p>
            <a:pPr algn="l"/>
            <a:r>
              <a:rPr lang="en-US" dirty="0"/>
              <a:t>Bytecode is a set of instructions that are read and executed by the Java Virtual Machine. Every Java program is compiled into bytecode, which can then be run on any platform that has a Java Virtual Machine. This makes Java platform-independent.</a:t>
            </a:r>
          </a:p>
          <a:p>
            <a:pPr algn="l"/>
            <a:endParaRPr lang="en-US" dirty="0"/>
          </a:p>
          <a:p>
            <a:pPr algn="l"/>
            <a:r>
              <a:rPr lang="en-IN" dirty="0">
                <a:hlinkClick r:id="rId2"/>
              </a:rPr>
              <a:t>https://www.oracle.com/webfolder/technetwork/tutorials/obe/java/gc01/index.html</a:t>
            </a:r>
            <a:r>
              <a:rPr lang="en-US" dirty="0"/>
              <a:t> </a:t>
            </a:r>
          </a:p>
          <a:p>
            <a:pPr algn="l"/>
            <a:r>
              <a:rPr lang="en-IN" dirty="0">
                <a:hlinkClick r:id="rId3"/>
              </a:rPr>
              <a:t>https://www.javamadesoeasy.com/2017/03/top-50-garbage-collection-interview.html</a:t>
            </a:r>
            <a:r>
              <a:rPr lang="en-US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449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4F7170-DA49-EBF1-D8A3-F5833DC38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249" y="261257"/>
            <a:ext cx="11551298" cy="637944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What events trigger Java garbage collection</a:t>
            </a:r>
          </a:p>
          <a:p>
            <a:pPr algn="l"/>
            <a:r>
              <a:rPr lang="en-US" dirty="0"/>
              <a:t>In Java, garbage collection is triggered automatically by the JVM (Java Virtual Machine) when it determines that the heap is getting full or when a certain amount of time has passed.</a:t>
            </a:r>
          </a:p>
          <a:p>
            <a:pPr algn="l" fontAlgn="base"/>
            <a:r>
              <a:rPr lang="en-US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There are several events that can trigger garbage collection in Java: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61616"/>
                </a:solidFill>
                <a:effectLst/>
                <a:latin typeface="inherit"/>
              </a:rPr>
              <a:t>Heap space allocation:</a:t>
            </a:r>
            <a:r>
              <a:rPr lang="en-US" b="0" i="0" dirty="0">
                <a:solidFill>
                  <a:srgbClr val="161616"/>
                </a:solidFill>
                <a:effectLst/>
                <a:latin typeface="inherit"/>
              </a:rPr>
              <a:t> When the JVM needs to allocate memory for a new object, and there is not enough space in the heap, it will trigger garbage collection to reclaim unused memory or store them in the survivor space.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161616"/>
                </a:solidFill>
                <a:effectLst/>
                <a:latin typeface="inherit"/>
              </a:rPr>
              <a:t>System.gc</a:t>
            </a:r>
            <a:r>
              <a:rPr lang="en-US" b="1" i="0" dirty="0">
                <a:solidFill>
                  <a:srgbClr val="161616"/>
                </a:solidFill>
                <a:effectLst/>
                <a:latin typeface="inherit"/>
              </a:rPr>
              <a:t>() method call:</a:t>
            </a:r>
            <a:r>
              <a:rPr lang="en-US" b="0" i="0" dirty="0">
                <a:solidFill>
                  <a:srgbClr val="161616"/>
                </a:solidFill>
                <a:effectLst/>
                <a:latin typeface="inherit"/>
              </a:rPr>
              <a:t> You can explicitly request garbage collection by calling the 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inherit"/>
              </a:rPr>
              <a:t>System.gc</a:t>
            </a:r>
            <a:r>
              <a:rPr lang="en-US" b="0" i="0" dirty="0">
                <a:solidFill>
                  <a:srgbClr val="161616"/>
                </a:solidFill>
                <a:effectLst/>
                <a:latin typeface="inherit"/>
              </a:rPr>
              <a:t>() method, although there is no guarantee that it will actually run.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61616"/>
                </a:solidFill>
                <a:effectLst/>
                <a:latin typeface="inherit"/>
              </a:rPr>
              <a:t>Old generation threshold:</a:t>
            </a:r>
            <a:r>
              <a:rPr lang="en-US" b="0" i="0" dirty="0">
                <a:solidFill>
                  <a:srgbClr val="161616"/>
                </a:solidFill>
                <a:effectLst/>
                <a:latin typeface="inherit"/>
              </a:rPr>
              <a:t> Garbage collection can also be triggered when the heap size of the old generation heap space (which stores long-lived objects) reaches a certain threshold.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161616"/>
                </a:solidFill>
                <a:effectLst/>
                <a:latin typeface="inherit"/>
              </a:rPr>
              <a:t>PermGen</a:t>
            </a:r>
            <a:r>
              <a:rPr lang="en-US" b="1" i="0" dirty="0">
                <a:solidFill>
                  <a:srgbClr val="161616"/>
                </a:solidFill>
                <a:effectLst/>
                <a:latin typeface="inherit"/>
              </a:rPr>
              <a:t>/</a:t>
            </a:r>
            <a:r>
              <a:rPr lang="en-US" b="1" i="0" dirty="0" err="1">
                <a:solidFill>
                  <a:srgbClr val="161616"/>
                </a:solidFill>
                <a:effectLst/>
                <a:latin typeface="inherit"/>
              </a:rPr>
              <a:t>Metaspace</a:t>
            </a:r>
            <a:r>
              <a:rPr lang="en-US" b="1" i="0" dirty="0">
                <a:solidFill>
                  <a:srgbClr val="161616"/>
                </a:solidFill>
                <a:effectLst/>
                <a:latin typeface="inherit"/>
              </a:rPr>
              <a:t> threshold</a:t>
            </a:r>
            <a:r>
              <a:rPr lang="en-US" b="0" i="0" dirty="0">
                <a:solidFill>
                  <a:srgbClr val="161616"/>
                </a:solidFill>
                <a:effectLst/>
                <a:latin typeface="inherit"/>
              </a:rPr>
              <a:t>: In Java versions prior to Java 8, garbage collection can also be triggered when the size of the 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inherit"/>
              </a:rPr>
              <a:t>PermGen</a:t>
            </a:r>
            <a:r>
              <a:rPr lang="en-US" b="0" i="0" dirty="0">
                <a:solidFill>
                  <a:srgbClr val="161616"/>
                </a:solidFill>
                <a:effectLst/>
                <a:latin typeface="inherit"/>
              </a:rPr>
              <a:t> (Permanent Generation) or 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inherit"/>
              </a:rPr>
              <a:t>Metaspace</a:t>
            </a:r>
            <a:r>
              <a:rPr lang="en-US" b="0" i="0" dirty="0">
                <a:solidFill>
                  <a:srgbClr val="161616"/>
                </a:solidFill>
                <a:effectLst/>
                <a:latin typeface="inherit"/>
              </a:rPr>
              <a:t> (in Java 8 and later) memory areas reaches a certain threshold.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61616"/>
                </a:solidFill>
                <a:effectLst/>
                <a:latin typeface="inherit"/>
              </a:rPr>
              <a:t>Time-based:</a:t>
            </a:r>
            <a:r>
              <a:rPr lang="en-US" b="0" i="0" dirty="0">
                <a:solidFill>
                  <a:srgbClr val="161616"/>
                </a:solidFill>
                <a:effectLst/>
                <a:latin typeface="inherit"/>
              </a:rPr>
              <a:t> In some cases, garbage collection can be triggered based on a time interval. For example, the JVM might trigger garbage collection every hour or every day, regardless of memory usage.</a:t>
            </a:r>
          </a:p>
          <a:p>
            <a:pPr algn="l" fontAlgn="base"/>
            <a:r>
              <a:rPr lang="en-US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It's worth noting that the exact behavior of garbage collection in Java can vary depending on the JVM implementation and configuration.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818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4F7170-DA49-EBF1-D8A3-F5833DC38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249" y="261257"/>
            <a:ext cx="11551298" cy="6379449"/>
          </a:xfrm>
        </p:spPr>
        <p:txBody>
          <a:bodyPr>
            <a:normAutofit/>
          </a:bodyPr>
          <a:lstStyle/>
          <a:p>
            <a:pPr algn="l"/>
            <a:r>
              <a:rPr lang="en-US">
                <a:hlinkClick r:id="rId2"/>
              </a:rPr>
              <a:t>https://rollbar.com/blog/how-to-detect-memory-leaks-in-java-causes-types-tools/</a:t>
            </a:r>
            <a:endParaRPr lang="en-US"/>
          </a:p>
          <a:p>
            <a:pPr algn="l"/>
            <a:r>
              <a:rPr lang="en-IN">
                <a:hlinkClick r:id="rId3"/>
              </a:rPr>
              <a:t>https</a:t>
            </a:r>
            <a:r>
              <a:rPr lang="en-IN" dirty="0">
                <a:hlinkClick r:id="rId3"/>
              </a:rPr>
              <a:t>://sematext.com/blog/java-memory-leaks/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331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428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IBM Plex Sans</vt:lpstr>
      <vt:lpstr>inherit</vt:lpstr>
      <vt:lpstr>Noto Sans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 Sunar</dc:creator>
  <cp:lastModifiedBy>Arun Sunar</cp:lastModifiedBy>
  <cp:revision>1</cp:revision>
  <dcterms:created xsi:type="dcterms:W3CDTF">2023-12-02T03:16:42Z</dcterms:created>
  <dcterms:modified xsi:type="dcterms:W3CDTF">2023-12-02T09:59:22Z</dcterms:modified>
</cp:coreProperties>
</file>